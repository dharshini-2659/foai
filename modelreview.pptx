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71" r:id="rId6"/>
    <p:sldId id="272" r:id="rId7"/>
    <p:sldId id="273" r:id="rId8"/>
    <p:sldId id="260" r:id="rId9"/>
    <p:sldId id="268" r:id="rId10"/>
    <p:sldId id="275" r:id="rId11"/>
    <p:sldId id="261" r:id="rId12"/>
    <p:sldId id="262" r:id="rId13"/>
    <p:sldId id="269" r:id="rId14"/>
    <p:sldId id="263" r:id="rId15"/>
    <p:sldId id="270" r:id="rId16"/>
    <p:sldId id="264" r:id="rId17"/>
    <p:sldId id="265" r:id="rId18"/>
    <p:sldId id="266" r:id="rId19"/>
    <p:sldId id="276" r:id="rId20"/>
    <p:sldId id="267" r:id="rId21"/>
  </p:sldIdLst>
  <p:sldSz cx="12192000" cy="6858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P" initials="H" lastIdx="1" clrIdx="0">
    <p:extLst>
      <p:ext uri="{19B8F6BF-5375-455C-9EA6-DF929625EA0E}">
        <p15:presenceInfo xmlns:p15="http://schemas.microsoft.com/office/powerpoint/2012/main" userId="HP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7" d="100"/>
          <a:sy n="77" d="100"/>
        </p:scale>
        <p:origin x="658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9E05D0-A421-4EF3-8512-AD1148C82550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1C5D9F-5FDD-4E04-AD07-37773298FB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9667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7">
            <a:extLst>
              <a:ext uri="{FF2B5EF4-FFF2-40B4-BE49-F238E27FC236}">
                <a16:creationId xmlns:a16="http://schemas.microsoft.com/office/drawing/2014/main" id="{8D13192D-1816-F03A-9AF1-BBA902A8A1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393950"/>
            <a:ext cx="103632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IN" sz="180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990600"/>
            <a:ext cx="103632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429000"/>
            <a:ext cx="93472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4B6A37-AD04-C654-AC92-D9CC3ADF0A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58272B-7D6B-F3CE-953F-1079FFA8D8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5F3314-4EF0-936B-77EE-175E9EF6B5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8F95DA7-9E0E-467D-A139-0471DC1777C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0965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A88B164-965D-9E09-9E7D-16374A9EAD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EE044AE8-B23C-D8C6-4D87-EADCB1C0F02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BE04F0FC-AAC5-064C-CDAD-FF80D73B385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C2143B-610F-499C-A392-DFFBE135A7B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2674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E3D50AC-D896-487B-A964-4F2362A2FC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1860975C-7E6F-6BD7-97FB-B68EFA315FE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925DB3BD-FB8F-C610-9A37-B3ADF214A3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5C213C-AC18-4D5A-BA73-4550FF50B84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3545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56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12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CC1F139-34C5-A295-F629-88EF76019A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AB20EB37-7A2A-E49D-01DB-6418D7037D0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C4FAAEF5-CC11-F779-153E-E74E333E5A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8ED4EA-E359-45F1-B86A-A40772B25C2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2587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4E764D-F83F-9CC9-8E38-FEA9647AB7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BF83D4-B422-239C-8C38-4509A66ADB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1238FA-AFA9-8287-25C9-98D6042CFD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37AD66-1F60-49BE-A2E9-D91D10CB91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8931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B80D49F1-7BF0-A0A8-0C0A-9B4F1788B3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BDDDAEBE-B0DA-0212-414B-C9FFC612D8C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7430D5C8-DD0F-C0FD-D016-9055C67C40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83B680-F650-469F-A231-392F163461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6819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90400DB2-066A-4CAE-071C-1EAF9DDB727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EAB14BBF-3825-C6B5-25F7-8686AAD7C35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784D417B-4541-5C9D-274F-9952E6F120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537315-F462-4C74-88B4-A900525A3FA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7779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0B1A011-C2F2-C9FC-9DD8-A4E6A00AA40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7B4C95F2-7321-CEE1-4FD5-BE988C3BAE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24AB3D0A-7C9E-40E8-0F27-0C737BD346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9B2829-DA13-4801-8FBD-6D5729CB959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1495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531D201-6E7B-DD71-C865-2CC76825209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3A474AB6-A9CC-8EC3-60F9-BBEDD90B03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414DF99B-1424-E931-A0EF-A2CCFECC39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B0EEF8-84AE-4BCB-9844-5B22523396C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5982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E0854C1-7207-EF75-A61A-B4AF54A5D72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023D97B6-49D4-67F3-668F-9724FD3523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EE4FA587-585B-1C1F-066D-B211962B0D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67E6EB-B6CA-430B-8761-75C737CF7A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9476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65118" y="304800"/>
            <a:ext cx="2669116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5651" y="304800"/>
            <a:ext cx="7806267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1D0F6A3-93FF-6A17-402C-31256BC457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FB63A9F3-AD04-ED6E-E628-12170F70CE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01BD68DD-46F8-E148-C9DD-BDF1256D37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31276A-AAE7-4DAF-B5DC-CD9EE96B703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8195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AD52653-E1AE-07CB-DCC9-CD2593D84E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BB93799-0450-059C-B337-0FA5C4C373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AutoShape 4">
            <a:extLst>
              <a:ext uri="{FF2B5EF4-FFF2-40B4-BE49-F238E27FC236}">
                <a16:creationId xmlns:a16="http://schemas.microsoft.com/office/drawing/2014/main" id="{6B43BBB4-1099-054A-DDAC-B357DD3DA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800" y="1566864"/>
            <a:ext cx="10610851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IN" sz="1800"/>
          </a:p>
        </p:txBody>
      </p:sp>
      <p:sp>
        <p:nvSpPr>
          <p:cNvPr id="1029" name="Line 5">
            <a:extLst>
              <a:ext uri="{FF2B5EF4-FFF2-40B4-BE49-F238E27FC236}">
                <a16:creationId xmlns:a16="http://schemas.microsoft.com/office/drawing/2014/main" id="{986B2119-A42B-45B1-6DCF-EF7CC29004D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2800" y="6172200"/>
            <a:ext cx="105664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6C6B070B-4AFE-871D-87ED-86092999D2D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128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FA33AF8B-6600-80BC-AB7A-98E95CF9D74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4104" name="Rectangle 8">
            <a:extLst>
              <a:ext uri="{FF2B5EF4-FFF2-40B4-BE49-F238E27FC236}">
                <a16:creationId xmlns:a16="http://schemas.microsoft.com/office/drawing/2014/main" id="{1BD9409A-4B38-651E-F54D-ABAB5C4CEBA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756AFA5A-A15D-402B-9810-66A481E9819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0801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networkx.org/documentation/stable/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openstreetmap.org/copyright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41A2FBB-F55B-9BAA-4EBD-7D6AD7B1D9C0}"/>
              </a:ext>
            </a:extLst>
          </p:cNvPr>
          <p:cNvSpPr txBox="1">
            <a:spLocks/>
          </p:cNvSpPr>
          <p:nvPr/>
        </p:nvSpPr>
        <p:spPr>
          <a:xfrm>
            <a:off x="789712" y="25306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000" b="1" dirty="0">
                <a:solidFill>
                  <a:srgbClr val="7030A0"/>
                </a:solidFill>
                <a:latin typeface="Verdana" panose="020B0604030504040204" pitchFamily="34" charset="0"/>
              </a:rPr>
              <a:t>AI BASED EMERGENCY RESOURCES ALLOCATIN SYSTEM</a:t>
            </a:r>
            <a:endParaRPr lang="en-IN" sz="4000" b="1" dirty="0">
              <a:solidFill>
                <a:srgbClr val="7030A0"/>
              </a:solidFill>
              <a:latin typeface="Verdana" panose="020B0604030504040204" pitchFamily="34" charset="0"/>
              <a:ea typeface="+mn-ea"/>
              <a:cs typeface="+mn-cs"/>
            </a:endParaRPr>
          </a:p>
        </p:txBody>
      </p:sp>
      <p:sp>
        <p:nvSpPr>
          <p:cNvPr id="10" name="TextBox 1">
            <a:extLst>
              <a:ext uri="{FF2B5EF4-FFF2-40B4-BE49-F238E27FC236}">
                <a16:creationId xmlns:a16="http://schemas.microsoft.com/office/drawing/2014/main" id="{2D19DAE3-8F95-230C-D485-225341D07D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392" y="5301208"/>
            <a:ext cx="513311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2400" b="1" dirty="0">
                <a:solidFill>
                  <a:srgbClr val="FF0000"/>
                </a:solidFill>
              </a:rPr>
              <a:t>D</a:t>
            </a:r>
            <a:r>
              <a:rPr lang="en-IN" altLang="en-US" sz="2400" b="1" dirty="0">
                <a:solidFill>
                  <a:srgbClr val="FF0000"/>
                </a:solidFill>
              </a:rPr>
              <a:t>r. BHUVANA S,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2400" b="1" dirty="0">
                <a:solidFill>
                  <a:srgbClr val="FF0000"/>
                </a:solidFill>
              </a:rPr>
              <a:t>ASSISTANT PROFESSOR SG</a:t>
            </a:r>
          </a:p>
        </p:txBody>
      </p:sp>
      <p:sp>
        <p:nvSpPr>
          <p:cNvPr id="11" name="TextBox 1">
            <a:extLst>
              <a:ext uri="{FF2B5EF4-FFF2-40B4-BE49-F238E27FC236}">
                <a16:creationId xmlns:a16="http://schemas.microsoft.com/office/drawing/2014/main" id="{19A39F01-D00C-AF01-020F-6FE15F5B42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239" y="5328572"/>
            <a:ext cx="486981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2400" b="1" dirty="0">
                <a:solidFill>
                  <a:srgbClr val="FF0000"/>
                </a:solidFill>
              </a:rPr>
              <a:t>D</a:t>
            </a:r>
            <a:r>
              <a:rPr lang="en-IN" altLang="en-US" sz="2400" b="1" dirty="0">
                <a:solidFill>
                  <a:srgbClr val="FF0000"/>
                </a:solidFill>
              </a:rPr>
              <a:t>HARSHINI S -241901026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2400" b="1" dirty="0">
                <a:solidFill>
                  <a:srgbClr val="FF0000"/>
                </a:solidFill>
              </a:rPr>
              <a:t>KEERTHIKA K -241901046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321851EC-AC90-1CBE-0738-0329685AB2AB}"/>
              </a:ext>
            </a:extLst>
          </p:cNvPr>
          <p:cNvSpPr txBox="1">
            <a:spLocks/>
          </p:cNvSpPr>
          <p:nvPr/>
        </p:nvSpPr>
        <p:spPr>
          <a:xfrm>
            <a:off x="754333" y="980728"/>
            <a:ext cx="10515600" cy="7224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800" b="1" dirty="0">
                <a:solidFill>
                  <a:srgbClr val="002060"/>
                </a:solidFill>
                <a:latin typeface="Verdana" panose="020B0604030504040204" pitchFamily="34" charset="0"/>
                <a:ea typeface="+mn-ea"/>
                <a:cs typeface="+mn-cs"/>
              </a:rPr>
              <a:t>Department of Computer Science and Engineering</a:t>
            </a:r>
          </a:p>
          <a:p>
            <a:r>
              <a:rPr lang="en-IN" sz="2800" b="1" dirty="0">
                <a:solidFill>
                  <a:srgbClr val="002060"/>
                </a:solidFill>
                <a:latin typeface="Verdana" panose="020B0604030504040204" pitchFamily="34" charset="0"/>
                <a:ea typeface="+mn-ea"/>
                <a:cs typeface="+mn-cs"/>
              </a:rPr>
              <a:t>(Cyber Security)</a:t>
            </a:r>
          </a:p>
          <a:p>
            <a:endParaRPr lang="en-IN" sz="2800" b="1" dirty="0">
              <a:solidFill>
                <a:srgbClr val="002060"/>
              </a:solidFill>
              <a:latin typeface="Verdana" panose="020B0604030504040204" pitchFamily="34" charset="0"/>
              <a:ea typeface="+mn-ea"/>
              <a:cs typeface="+mn-cs"/>
            </a:endParaRPr>
          </a:p>
        </p:txBody>
      </p:sp>
      <p:pic>
        <p:nvPicPr>
          <p:cNvPr id="12" name="Picture 11" descr="C:\Users\REC\Downloads\REC_Logo_Color_PNG_RGB.png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933065" cy="98072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/>
          <p:nvPr/>
        </p:nvSpPr>
        <p:spPr>
          <a:xfrm>
            <a:off x="1631504" y="1412776"/>
            <a:ext cx="101122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C00000"/>
                </a:solidFill>
                <a:latin typeface="Verdana" panose="020B0604030504040204" pitchFamily="34" charset="0"/>
              </a:rPr>
              <a:t>CS23533– Foundations of Artificial Intelligence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873101" y="1916832"/>
            <a:ext cx="16033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rgbClr val="002060"/>
                </a:solidFill>
                <a:latin typeface="Verdana" panose="020B0604030504040204" pitchFamily="34" charset="0"/>
              </a:rPr>
              <a:t>2026-2027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31392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sz="3200" b="1" dirty="0">
                <a:solidFill>
                  <a:srgbClr val="FF0000"/>
                </a:solidFill>
              </a:rPr>
              <a:t>Problem Statement and Motivation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400" b="1" dirty="0"/>
              <a:t>Problem Statement</a:t>
            </a:r>
            <a:endParaRPr lang="en-IN" sz="2400" dirty="0"/>
          </a:p>
          <a:p>
            <a:pPr>
              <a:buClr>
                <a:srgbClr val="CC0000"/>
              </a:buClr>
            </a:pPr>
            <a:r>
              <a:rPr lang="en-IN" sz="2400" dirty="0"/>
              <a:t>Manual emergency resource selection and route planning may delay response.</a:t>
            </a:r>
          </a:p>
          <a:p>
            <a:pPr>
              <a:buClr>
                <a:srgbClr val="CC0000"/>
              </a:buClr>
            </a:pPr>
            <a:r>
              <a:rPr lang="en-IN" sz="2400" dirty="0"/>
              <a:t>Suitable resources and routes must be identified quickly.</a:t>
            </a:r>
          </a:p>
          <a:p>
            <a:pPr>
              <a:buClr>
                <a:srgbClr val="CC0000"/>
              </a:buClr>
            </a:pPr>
            <a:endParaRPr lang="en-IN" sz="2400" b="1" dirty="0"/>
          </a:p>
          <a:p>
            <a:pPr marL="0" indent="0">
              <a:buNone/>
            </a:pPr>
            <a:r>
              <a:rPr lang="en-IN" sz="2400" b="1" dirty="0"/>
              <a:t>Motivation</a:t>
            </a:r>
            <a:endParaRPr lang="en-IN" sz="2400" dirty="0"/>
          </a:p>
          <a:p>
            <a:pPr>
              <a:buClr>
                <a:srgbClr val="CC0000"/>
              </a:buClr>
            </a:pPr>
            <a:r>
              <a:rPr lang="en-IN" sz="2400" dirty="0"/>
              <a:t>Use knowledge-based rules to select suitable resources.</a:t>
            </a:r>
          </a:p>
          <a:p>
            <a:pPr>
              <a:buClr>
                <a:srgbClr val="CC0000"/>
              </a:buClr>
            </a:pPr>
            <a:r>
              <a:rPr lang="en-IN" sz="2400" dirty="0"/>
              <a:t>Apply A* algorithm for route finding.</a:t>
            </a:r>
          </a:p>
          <a:p>
            <a:pPr>
              <a:buClr>
                <a:srgbClr val="CC0000"/>
              </a:buClr>
            </a:pPr>
            <a:r>
              <a:rPr lang="en-IN" sz="2400" dirty="0"/>
              <a:t>Integrate allocation and map visualization in one web application.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None/>
              <a:tabLst/>
              <a:defRPr/>
            </a:pPr>
            <a:br>
              <a:rPr kumimoji="0" lang="en-I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</a:br>
            <a:endParaRPr kumimoji="0" lang="en-IN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0" indent="0">
              <a:buNone/>
            </a:pPr>
            <a:endParaRPr lang="en-IN"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83869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sz="3200" b="1" dirty="0">
                <a:solidFill>
                  <a:srgbClr val="FF0000"/>
                </a:solidFill>
              </a:rPr>
              <a:t>Objectives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CC0000"/>
              </a:buClr>
            </a:pPr>
            <a:r>
              <a:rPr lang="en-IN" sz="2400" dirty="0"/>
              <a:t>Develop a web-based emergency resource allocation system.</a:t>
            </a:r>
          </a:p>
          <a:p>
            <a:pPr>
              <a:buClr>
                <a:srgbClr val="CC0000"/>
              </a:buClr>
            </a:pPr>
            <a:r>
              <a:rPr lang="en-IN" sz="2400" dirty="0"/>
              <a:t>Select suitable resources using knowledge-based rules.</a:t>
            </a:r>
          </a:p>
          <a:p>
            <a:pPr>
              <a:buClr>
                <a:srgbClr val="CC0000"/>
              </a:buClr>
            </a:pPr>
            <a:r>
              <a:rPr lang="en-IN" sz="2400" dirty="0"/>
              <a:t>Find routes using the A* search algorithm.</a:t>
            </a:r>
          </a:p>
          <a:p>
            <a:pPr>
              <a:buClr>
                <a:srgbClr val="CC0000"/>
              </a:buClr>
            </a:pPr>
            <a:r>
              <a:rPr lang="en-IN" sz="2400" dirty="0"/>
              <a:t>Display emergency locations and routes on an interactive map.</a:t>
            </a:r>
          </a:p>
          <a:p>
            <a:pPr>
              <a:buClr>
                <a:srgbClr val="CC0000"/>
              </a:buClr>
            </a:pPr>
            <a:r>
              <a:rPr lang="en-IN" sz="2400" dirty="0"/>
              <a:t>Implement authentication, input validation, and allocation logging.</a:t>
            </a:r>
          </a:p>
          <a:p>
            <a:pPr>
              <a:buClr>
                <a:srgbClr val="CC0000"/>
              </a:buClr>
            </a:pPr>
            <a:r>
              <a:rPr lang="en-IN" sz="2400" b="1" dirty="0"/>
              <a:t>Completed So Far:</a:t>
            </a:r>
            <a:r>
              <a:rPr lang="en-IN" sz="2400" dirty="0"/>
              <a:t> Core resource allocation, A* routing, map visualization, and basic security features implemented.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None/>
              <a:tabLst/>
              <a:defRPr/>
            </a:pPr>
            <a:br>
              <a:rPr kumimoji="0" lang="en-I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</a:br>
            <a:endParaRPr kumimoji="0" lang="en-I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93136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sz="3200" b="1" dirty="0">
                <a:solidFill>
                  <a:srgbClr val="FF0000"/>
                </a:solidFill>
              </a:rPr>
              <a:t>Abstract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1" y="1752599"/>
            <a:ext cx="10668000" cy="4492625"/>
          </a:xfrm>
        </p:spPr>
        <p:txBody>
          <a:bodyPr/>
          <a:lstStyle/>
          <a:p>
            <a:r>
              <a:rPr lang="en-IN" sz="2400" dirty="0"/>
              <a:t>Develops an AI-based system for emergency resource allocation.</a:t>
            </a:r>
          </a:p>
          <a:p>
            <a:pPr lvl="0"/>
            <a:r>
              <a:rPr lang="en-IN" sz="2400" dirty="0"/>
              <a:t>Selects suitable resources based on emergency type, priority, and location using knowledge-based rules.</a:t>
            </a:r>
          </a:p>
          <a:p>
            <a:pPr lvl="0"/>
            <a:r>
              <a:rPr lang="en-IN" sz="2400" dirty="0"/>
              <a:t>Uses the A* search algorithm to find efficient routes to emergency locations.</a:t>
            </a:r>
          </a:p>
          <a:p>
            <a:pPr lvl="0"/>
            <a:r>
              <a:rPr lang="en-IN" sz="2400" dirty="0"/>
              <a:t>Integrates resource allocation, route finding, and map visualization.</a:t>
            </a:r>
          </a:p>
          <a:p>
            <a:pPr lvl="0"/>
            <a:r>
              <a:rPr lang="en-IN" sz="2400" dirty="0"/>
              <a:t>Applies classical AI concepts: Intelligent Agents, Heuristic Search, and Knowledge-Based Reasoning.</a:t>
            </a:r>
          </a:p>
          <a:p>
            <a:pPr lvl="0"/>
            <a:r>
              <a:rPr lang="en-IN" sz="2400" dirty="0"/>
              <a:t>Aims to improve emergency response efficiency compared to manual methods.</a:t>
            </a:r>
          </a:p>
          <a:p>
            <a:pPr marL="0" lvl="0" indent="0" algn="just">
              <a:buClr>
                <a:srgbClr val="CC0000"/>
              </a:buClr>
              <a:buNone/>
              <a:defRPr/>
            </a:pP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44831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533399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Literature Survey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None/>
              <a:tabLst/>
              <a:defRPr/>
            </a:pPr>
            <a:br>
              <a:rPr kumimoji="0" lang="en-I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</a:br>
            <a:endParaRPr kumimoji="0" lang="en-I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5</a:t>
            </a:fld>
            <a:endParaRPr lang="en-IN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D7E4B40-F95E-47F4-B92E-06AFA2A015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1427674"/>
              </p:ext>
            </p:extLst>
          </p:nvPr>
        </p:nvGraphicFramePr>
        <p:xfrm>
          <a:off x="748715" y="779900"/>
          <a:ext cx="11089233" cy="5739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89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51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548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122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13541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000"/>
                        <a:t>S. No.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000"/>
                        <a:t>Author(s) &amp; Year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000"/>
                        <a:t>Paper Title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000"/>
                        <a:t>Methodology / Algorithm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000"/>
                        <a:t>Limitations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919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800"/>
                        <a:t>1</a:t>
                      </a: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Aptos" panose="020B0004020202020204" pitchFamily="34" charset="0"/>
                        </a:rPr>
                        <a:t>Nordin et al., 2012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Aptos" panose="020B0004020202020204" pitchFamily="34" charset="0"/>
                        </a:rPr>
                        <a:t>Finding Shortest Path of the Ambulance Routing: Interface of A* Algorithm Using C# Programming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Aptos" panose="020B0004020202020204" pitchFamily="34" charset="0"/>
                        </a:rPr>
                        <a:t>A* shortest-path algorithm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Aptos" panose="020B0004020202020204" pitchFamily="34" charset="0"/>
                        </a:rPr>
                        <a:t>Focuses on ambulance route finding rather than integrated resource allocation. </a:t>
                      </a:r>
                    </a:p>
                    <a:p>
                      <a:pPr>
                        <a:buNone/>
                      </a:pPr>
                      <a:r>
                        <a:rPr lang="en-IN" dirty="0">
                          <a:latin typeface="Aptos" panose="020B0004020202020204" pitchFamily="34" charset="0"/>
                        </a:rPr>
                        <a:t>researchgate.net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919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800"/>
                        <a:t>2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>
                          <a:latin typeface="Aptos" panose="020B0004020202020204" pitchFamily="34" charset="0"/>
                        </a:rPr>
                        <a:t>Barrachina</a:t>
                      </a:r>
                      <a:r>
                        <a:rPr lang="en-IN" dirty="0">
                          <a:latin typeface="Aptos" panose="020B0004020202020204" pitchFamily="34" charset="0"/>
                        </a:rPr>
                        <a:t> et al., 2014</a:t>
                      </a:r>
                    </a:p>
                  </a:txBody>
                  <a:tcPr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Aptos" panose="020B0004020202020204" pitchFamily="34" charset="0"/>
                        </a:rPr>
                        <a:t>Reducing Emergency Services Arrival Time by Using Vehicular Communications and Evolution Strategies</a:t>
                      </a:r>
                    </a:p>
                  </a:txBody>
                  <a:tcPr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Aptos" panose="020B0004020202020204" pitchFamily="34" charset="0"/>
                        </a:rPr>
                        <a:t>Evolution strategies and vehicular communication-based rerouting</a:t>
                      </a:r>
                    </a:p>
                  </a:txBody>
                  <a:tcPr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Aptos" panose="020B0004020202020204" pitchFamily="34" charset="0"/>
                        </a:rPr>
                        <a:t>Depends on traffic and vehicular communication information.</a:t>
                      </a:r>
                    </a:p>
                  </a:txBody>
                  <a:tcPr anchor="ctr">
                    <a:solidFill>
                      <a:srgbClr val="EB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919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800"/>
                        <a:t>3</a:t>
                      </a: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Aptos" panose="020B0004020202020204" pitchFamily="34" charset="0"/>
                        </a:rPr>
                        <a:t>Pettet et al., 2022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Aptos" panose="020B0004020202020204" pitchFamily="34" charset="0"/>
                        </a:rPr>
                        <a:t>Designing Decision Support Systems for Emergency Response: Challenges and Opportunities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Aptos" panose="020B0004020202020204" pitchFamily="34" charset="0"/>
                        </a:rPr>
                        <a:t>Emergency response decision-support and optimization approaches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Aptos" panose="020B0004020202020204" pitchFamily="34" charset="0"/>
                        </a:rPr>
                        <a:t>Discusses broader decision-support challenges; our project implements a specific resource-selection and route-planning prototype. </a:t>
                      </a:r>
                    </a:p>
                    <a:p>
                      <a:pPr>
                        <a:buNone/>
                      </a:pPr>
                      <a:r>
                        <a:rPr lang="en-IN" dirty="0">
                          <a:latin typeface="Aptos" panose="020B0004020202020204" pitchFamily="34" charset="0"/>
                        </a:rPr>
                        <a:t>scopelab.ai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04451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Research Gap/Existing System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6</a:t>
            </a:fld>
            <a:endParaRPr lang="en-IN"/>
          </a:p>
        </p:txBody>
      </p:sp>
      <p:sp>
        <p:nvSpPr>
          <p:cNvPr id="20" name="Rounded Rectangle 3">
            <a:extLst>
              <a:ext uri="{FF2B5EF4-FFF2-40B4-BE49-F238E27FC236}">
                <a16:creationId xmlns:a16="http://schemas.microsoft.com/office/drawing/2014/main" id="{F4FE7899-24E6-401C-9D46-CFAA1E2438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0" y="1752600"/>
            <a:ext cx="5052318" cy="1216025"/>
          </a:xfrm>
          <a:prstGeom prst="roundRect">
            <a:avLst/>
          </a:prstGeom>
          <a:solidFill>
            <a:srgbClr val="EBF2FA"/>
          </a:solidFill>
          <a:ln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64592" rtlCol="0" anchor="ctr"/>
          <a:lstStyle/>
          <a:p>
            <a:pPr marL="0" indent="0" algn="ctr">
              <a:spcAft>
                <a:spcPts val="800"/>
              </a:spcAft>
              <a:buNone/>
              <a:defRPr sz="1700" b="1">
                <a:solidFill>
                  <a:srgbClr val="193054"/>
                </a:solidFill>
                <a:latin typeface="Aptos Display"/>
              </a:defRPr>
            </a:pPr>
            <a:r>
              <a:rPr dirty="0"/>
              <a:t>1. What existing studies do</a:t>
            </a:r>
          </a:p>
          <a:p>
            <a:pPr marL="0" indent="0">
              <a:spcBef>
                <a:spcPts val="200"/>
              </a:spcBef>
              <a:buNone/>
              <a:defRPr sz="1300">
                <a:solidFill>
                  <a:srgbClr val="2D343E"/>
                </a:solidFill>
                <a:latin typeface="Aptos"/>
              </a:defRPr>
            </a:pPr>
            <a:r>
              <a:rPr lang="en-IN" sz="1300" dirty="0">
                <a:solidFill>
                  <a:srgbClr val="2D343E"/>
                </a:solidFill>
                <a:latin typeface="Aptos"/>
              </a:rPr>
              <a:t>Existing studies use A* search for emergency route planning and optimization techniques for emergency response.</a:t>
            </a:r>
            <a:r>
              <a:rPr dirty="0"/>
              <a:t>.</a:t>
            </a:r>
          </a:p>
        </p:txBody>
      </p:sp>
      <p:sp>
        <p:nvSpPr>
          <p:cNvPr id="21" name="Rounded Rectangle 4">
            <a:extLst>
              <a:ext uri="{FF2B5EF4-FFF2-40B4-BE49-F238E27FC236}">
                <a16:creationId xmlns:a16="http://schemas.microsoft.com/office/drawing/2014/main" id="{FF66DAF5-0B91-4093-BD89-5CE7615E431A}"/>
              </a:ext>
            </a:extLst>
          </p:cNvPr>
          <p:cNvSpPr/>
          <p:nvPr/>
        </p:nvSpPr>
        <p:spPr>
          <a:xfrm>
            <a:off x="6096000" y="1752600"/>
            <a:ext cx="5452872" cy="1216024"/>
          </a:xfrm>
          <a:prstGeom prst="roundRect">
            <a:avLst/>
          </a:prstGeom>
          <a:solidFill>
            <a:srgbClr val="F7F9FC"/>
          </a:solidFill>
          <a:ln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64592"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193054"/>
                </a:solidFill>
                <a:latin typeface="Aptos Display"/>
              </a:defRPr>
            </a:pPr>
            <a:r>
              <a:rPr dirty="0"/>
              <a:t>2. Limitations observed</a:t>
            </a:r>
          </a:p>
          <a:p>
            <a:pPr>
              <a:spcBef>
                <a:spcPts val="200"/>
              </a:spcBef>
              <a:defRPr sz="1300">
                <a:solidFill>
                  <a:srgbClr val="2D343E"/>
                </a:solidFill>
                <a:latin typeface="Aptos"/>
              </a:defRPr>
            </a:pPr>
            <a:r>
              <a:rPr lang="en-IN" sz="1300" dirty="0">
                <a:solidFill>
                  <a:srgbClr val="2D343E"/>
                </a:solidFill>
                <a:latin typeface="Aptos"/>
              </a:rPr>
              <a:t>Some approaches focus mainly on routing or decision support rather than integrating resource selection and route planning.</a:t>
            </a:r>
            <a:r>
              <a:rPr dirty="0"/>
              <a:t>.</a:t>
            </a:r>
          </a:p>
        </p:txBody>
      </p:sp>
      <p:sp>
        <p:nvSpPr>
          <p:cNvPr id="22" name="Rounded Rectangle 5">
            <a:extLst>
              <a:ext uri="{FF2B5EF4-FFF2-40B4-BE49-F238E27FC236}">
                <a16:creationId xmlns:a16="http://schemas.microsoft.com/office/drawing/2014/main" id="{85599EEB-0FFB-4C94-AB5E-41D5A47FE9B6}"/>
              </a:ext>
            </a:extLst>
          </p:cNvPr>
          <p:cNvSpPr/>
          <p:nvPr/>
        </p:nvSpPr>
        <p:spPr>
          <a:xfrm>
            <a:off x="766233" y="3645024"/>
            <a:ext cx="5177367" cy="1584176"/>
          </a:xfrm>
          <a:prstGeom prst="roundRect">
            <a:avLst/>
          </a:prstGeom>
          <a:solidFill>
            <a:srgbClr val="EBF2FA"/>
          </a:solidFill>
          <a:ln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64592"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193054"/>
                </a:solidFill>
                <a:latin typeface="Aptos Display"/>
              </a:defRPr>
            </a:pPr>
            <a:r>
              <a:rPr dirty="0"/>
              <a:t>3. Research gap</a:t>
            </a:r>
          </a:p>
          <a:p>
            <a:pPr>
              <a:spcBef>
                <a:spcPts val="200"/>
              </a:spcBef>
              <a:defRPr sz="1300">
                <a:solidFill>
                  <a:srgbClr val="2D343E"/>
                </a:solidFill>
                <a:latin typeface="Aptos"/>
              </a:defRPr>
            </a:pPr>
            <a:r>
              <a:rPr lang="en-IN" sz="1300" dirty="0">
                <a:solidFill>
                  <a:srgbClr val="2D343E"/>
                </a:solidFill>
                <a:latin typeface="Aptos"/>
              </a:rPr>
              <a:t>An integrated system combining knowledge-based resource allocation with A*-based routing is needed.</a:t>
            </a:r>
            <a:endParaRPr dirty="0"/>
          </a:p>
        </p:txBody>
      </p:sp>
      <p:sp>
        <p:nvSpPr>
          <p:cNvPr id="24" name="Rounded Rectangle 6">
            <a:extLst>
              <a:ext uri="{FF2B5EF4-FFF2-40B4-BE49-F238E27FC236}">
                <a16:creationId xmlns:a16="http://schemas.microsoft.com/office/drawing/2014/main" id="{C31116F3-B074-468F-82D6-F9C068878439}"/>
              </a:ext>
            </a:extLst>
          </p:cNvPr>
          <p:cNvSpPr/>
          <p:nvPr/>
        </p:nvSpPr>
        <p:spPr>
          <a:xfrm>
            <a:off x="6199632" y="3794760"/>
            <a:ext cx="5349240" cy="1434440"/>
          </a:xfrm>
          <a:prstGeom prst="roundRect">
            <a:avLst/>
          </a:prstGeom>
          <a:solidFill>
            <a:srgbClr val="F7F9FC"/>
          </a:solidFill>
          <a:ln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64592"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193054"/>
                </a:solidFill>
                <a:latin typeface="Aptos Display"/>
              </a:defRPr>
            </a:pPr>
            <a:r>
              <a:rPr dirty="0"/>
              <a:t>4. How our project responds</a:t>
            </a:r>
          </a:p>
          <a:p>
            <a:pPr>
              <a:spcBef>
                <a:spcPts val="200"/>
              </a:spcBef>
              <a:defRPr sz="1300">
                <a:solidFill>
                  <a:srgbClr val="2D343E"/>
                </a:solidFill>
                <a:latin typeface="Aptos"/>
              </a:defRPr>
            </a:pPr>
            <a:r>
              <a:rPr lang="en-IN" sz="1300" dirty="0">
                <a:solidFill>
                  <a:srgbClr val="2D343E"/>
                </a:solidFill>
                <a:latin typeface="Aptos"/>
              </a:rPr>
              <a:t>Our system combines rule-based resource selection, A* route finding, and map visualization in a web application.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631508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Proposed System 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sz="2800" b="1" dirty="0"/>
              <a:t>Knowledge-Based Allocation:</a:t>
            </a:r>
            <a:r>
              <a:rPr lang="en-IN" sz="2800" dirty="0"/>
              <a:t> Selects suitable emergency resources using predefined rules.</a:t>
            </a:r>
          </a:p>
          <a:p>
            <a:pPr lvl="0"/>
            <a:r>
              <a:rPr lang="en-IN" sz="2800" b="1" dirty="0"/>
              <a:t>A(star) Route Finding </a:t>
            </a:r>
            <a:r>
              <a:rPr lang="en-IN" sz="2800" dirty="0"/>
              <a:t>Calculates routes using the configured road network.</a:t>
            </a:r>
          </a:p>
          <a:p>
            <a:pPr lvl="0"/>
            <a:r>
              <a:rPr lang="en-IN" sz="2800" b="1" dirty="0"/>
              <a:t>Map Visualization:</a:t>
            </a:r>
            <a:r>
              <a:rPr lang="en-IN" sz="2800" dirty="0"/>
              <a:t> Displays emergency locations and routes using Leaflet and OpenStreetMap.</a:t>
            </a:r>
          </a:p>
          <a:p>
            <a:pPr lvl="0"/>
            <a:r>
              <a:rPr lang="en-IN" sz="2800" b="1" dirty="0"/>
              <a:t>Security Integration:</a:t>
            </a:r>
            <a:r>
              <a:rPr lang="en-IN" sz="2800" dirty="0"/>
              <a:t> Provides user authentication, role-based access, and allocation logging.</a:t>
            </a:r>
          </a:p>
          <a:p>
            <a:pPr marL="0" lvl="0" indent="0">
              <a:buClr>
                <a:srgbClr val="CC0000"/>
              </a:buClr>
              <a:buNone/>
              <a:defRPr/>
            </a:pPr>
            <a:r>
              <a:rPr lang="en-I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96778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DFD Diagram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None/>
              <a:tabLst/>
              <a:defRPr/>
            </a:pPr>
            <a:br>
              <a:rPr kumimoji="0" lang="en-I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</a:br>
            <a:endParaRPr kumimoji="0" lang="en-I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8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9DA0FD-3111-D358-962E-DAF473C4B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651" y="1916832"/>
            <a:ext cx="4848800" cy="34215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CBF01C4-BDD2-1274-CA79-9D5F71BF5F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3172" y="1916832"/>
            <a:ext cx="5375396" cy="3389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7779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sz="3200" b="1" dirty="0">
                <a:solidFill>
                  <a:srgbClr val="FF0000"/>
                </a:solidFill>
              </a:rPr>
              <a:t>Methodology/Work Flow Diagram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None/>
              <a:tabLst/>
              <a:defRPr/>
            </a:pPr>
            <a:br>
              <a:rPr kumimoji="0" lang="en-I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</a:br>
            <a:endParaRPr kumimoji="0" lang="en-I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9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E2106B-95D2-77AC-6F37-BE0F086D28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496" y="1683731"/>
            <a:ext cx="8671892" cy="4303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8157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Tools and Technologies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b="1" dirty="0"/>
              <a:t>Programming Language:</a:t>
            </a:r>
            <a:r>
              <a:rPr lang="en-IN" sz="2400" dirty="0"/>
              <a:t> Python, HTML, CSS, JavaScript</a:t>
            </a:r>
          </a:p>
          <a:p>
            <a:r>
              <a:rPr lang="en-IN" sz="2400" b="1" dirty="0"/>
              <a:t>Frameworks / Libraries:</a:t>
            </a:r>
            <a:r>
              <a:rPr lang="en-IN" sz="2400" dirty="0"/>
              <a:t> Flask, </a:t>
            </a:r>
            <a:r>
              <a:rPr lang="en-IN" sz="2400" dirty="0" err="1"/>
              <a:t>NetworkX</a:t>
            </a:r>
            <a:r>
              <a:rPr lang="en-IN" sz="2400" dirty="0"/>
              <a:t>, </a:t>
            </a:r>
            <a:r>
              <a:rPr lang="en-IN" sz="2400" dirty="0" err="1"/>
              <a:t>OSMnx</a:t>
            </a:r>
            <a:r>
              <a:rPr lang="en-IN" sz="2400" dirty="0"/>
              <a:t>, Leaflet</a:t>
            </a:r>
          </a:p>
          <a:p>
            <a:r>
              <a:rPr lang="en-IN" sz="2400" b="1" dirty="0"/>
              <a:t>Software / Database / Dataset:</a:t>
            </a:r>
            <a:endParaRPr lang="en-IN" sz="2400" dirty="0"/>
          </a:p>
          <a:p>
            <a:r>
              <a:rPr lang="en-IN" sz="2400" dirty="0"/>
              <a:t>SQLite database</a:t>
            </a:r>
          </a:p>
          <a:p>
            <a:r>
              <a:rPr lang="en-IN" sz="2400" dirty="0"/>
              <a:t>OpenStreetMap road network</a:t>
            </a:r>
          </a:p>
          <a:p>
            <a:r>
              <a:rPr lang="en-IN" sz="2400" dirty="0"/>
              <a:t>Python development environment</a:t>
            </a:r>
          </a:p>
          <a:p>
            <a:r>
              <a:rPr lang="en-IN" sz="2400" b="1" dirty="0" err="1"/>
              <a:t>Justification:</a:t>
            </a:r>
            <a:r>
              <a:rPr lang="en-IN" sz="2400" dirty="0" err="1"/>
              <a:t>Flask</a:t>
            </a:r>
            <a:r>
              <a:rPr lang="en-IN" sz="2400" dirty="0"/>
              <a:t> handles backend requests.</a:t>
            </a:r>
          </a:p>
          <a:p>
            <a:r>
              <a:rPr lang="en-IN" sz="2400" dirty="0" err="1"/>
              <a:t>NetworkX</a:t>
            </a:r>
            <a:r>
              <a:rPr lang="en-IN" sz="2400" dirty="0"/>
              <a:t> and </a:t>
            </a:r>
            <a:r>
              <a:rPr lang="en-IN" sz="2400" dirty="0" err="1"/>
              <a:t>OSMnx</a:t>
            </a:r>
            <a:r>
              <a:rPr lang="en-IN" sz="2400" dirty="0"/>
              <a:t> support A* route finding.</a:t>
            </a:r>
          </a:p>
          <a:p>
            <a:r>
              <a:rPr lang="en-IN" sz="2400" dirty="0"/>
              <a:t>Leaflet displays locations and routes on a map.</a:t>
            </a:r>
          </a:p>
          <a:p>
            <a:r>
              <a:rPr lang="en-IN" sz="2400" dirty="0"/>
              <a:t>SQLite stores allocation records.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84752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sz="3200" b="1" dirty="0">
                <a:solidFill>
                  <a:srgbClr val="FF0000"/>
                </a:solidFill>
              </a:rPr>
              <a:t>List of Modules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200" y="1520826"/>
            <a:ext cx="10668000" cy="4267200"/>
          </a:xfrm>
        </p:spPr>
        <p:txBody>
          <a:bodyPr/>
          <a:lstStyle/>
          <a:p>
            <a:r>
              <a:rPr lang="en-IN" sz="2000" b="1" dirty="0"/>
              <a:t>Module 1 – Emergency Input &amp; Location</a:t>
            </a:r>
            <a:br>
              <a:rPr lang="en-IN" sz="2000" dirty="0"/>
            </a:br>
            <a:r>
              <a:rPr lang="en-IN" sz="2000" dirty="0"/>
              <a:t>index.html, map.js</a:t>
            </a:r>
            <a:br>
              <a:rPr lang="en-IN" sz="2000" dirty="0"/>
            </a:br>
            <a:r>
              <a:rPr lang="en-IN" sz="2000" dirty="0"/>
              <a:t>Collects emergency details and location.</a:t>
            </a:r>
          </a:p>
          <a:p>
            <a:r>
              <a:rPr lang="en-IN" sz="2000" b="1" dirty="0"/>
              <a:t>Module 2 – Resource Allocation</a:t>
            </a:r>
            <a:br>
              <a:rPr lang="en-IN" sz="2000" dirty="0"/>
            </a:br>
            <a:r>
              <a:rPr lang="en-IN" sz="2000" dirty="0"/>
              <a:t>intelligent_allocator.py, resource_allocator.py</a:t>
            </a:r>
            <a:br>
              <a:rPr lang="en-IN" sz="2000" dirty="0"/>
            </a:br>
            <a:r>
              <a:rPr lang="en-IN" sz="2000" dirty="0"/>
              <a:t>Selects a suitable resource using allocation rules.</a:t>
            </a:r>
          </a:p>
          <a:p>
            <a:r>
              <a:rPr lang="en-IN" sz="2000" b="1" dirty="0"/>
              <a:t>Module 3 – A(star) Routing</a:t>
            </a:r>
            <a:br>
              <a:rPr lang="en-IN" sz="2000" dirty="0"/>
            </a:br>
            <a:r>
              <a:rPr lang="en-IN" sz="2000" dirty="0"/>
              <a:t>astar.py, </a:t>
            </a:r>
            <a:r>
              <a:rPr lang="en-IN" sz="2000" dirty="0" err="1"/>
              <a:t>NetworkX</a:t>
            </a:r>
            <a:r>
              <a:rPr lang="en-IN" sz="2000" dirty="0"/>
              <a:t>, </a:t>
            </a:r>
            <a:r>
              <a:rPr lang="en-IN" sz="2000" dirty="0" err="1"/>
              <a:t>OSMnx</a:t>
            </a:r>
            <a:br>
              <a:rPr lang="en-IN" sz="2000" dirty="0"/>
            </a:br>
            <a:r>
              <a:rPr lang="en-IN" sz="2000" dirty="0"/>
              <a:t>Finds a route using the A* algorithm.</a:t>
            </a:r>
          </a:p>
          <a:p>
            <a:r>
              <a:rPr lang="en-IN" sz="2000" b="1" dirty="0"/>
              <a:t>Module 4 – Map Visualization</a:t>
            </a:r>
            <a:br>
              <a:rPr lang="en-IN" sz="2000" dirty="0"/>
            </a:br>
            <a:r>
              <a:rPr lang="en-IN" sz="2000" dirty="0"/>
              <a:t>map.js, Leaflet, OpenStreetMap</a:t>
            </a:r>
            <a:br>
              <a:rPr lang="en-IN" sz="2000" dirty="0"/>
            </a:br>
            <a:r>
              <a:rPr lang="en-IN" sz="2000" dirty="0"/>
              <a:t>Displays the location and route on the map.</a:t>
            </a:r>
          </a:p>
          <a:p>
            <a:r>
              <a:rPr lang="en-IN" sz="2000" b="1" dirty="0"/>
              <a:t>Module 5 – Backend &amp; API Integration</a:t>
            </a:r>
            <a:br>
              <a:rPr lang="en-IN" sz="2000" dirty="0"/>
            </a:br>
            <a:r>
              <a:rPr lang="en-IN" sz="2000" dirty="0"/>
              <a:t>app.py, Flask, JSON</a:t>
            </a:r>
            <a:br>
              <a:rPr lang="en-IN" sz="2000" dirty="0"/>
            </a:br>
            <a:r>
              <a:rPr lang="en-IN" sz="2000" dirty="0"/>
              <a:t>Connects the frontend with backend modules.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None/>
              <a:tabLst/>
              <a:defRPr/>
            </a:pPr>
            <a:br>
              <a:rPr kumimoji="0" lang="en-I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</a:br>
            <a:endParaRPr kumimoji="0" lang="en-I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10159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b="1" dirty="0">
                <a:solidFill>
                  <a:srgbClr val="FF0000"/>
                </a:solidFill>
              </a:rPr>
              <a:t>Module Description(For each Module separately)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400" b="1" dirty="0"/>
              <a:t>1. Emergency Input &amp; Location</a:t>
            </a:r>
            <a:endParaRPr lang="en-IN" sz="2400" dirty="0"/>
          </a:p>
          <a:p>
            <a:pPr lvl="0"/>
            <a:r>
              <a:rPr lang="en-IN" sz="2400" dirty="0"/>
              <a:t>Collects emergency type, priority, and location.</a:t>
            </a:r>
          </a:p>
          <a:p>
            <a:pPr lvl="0"/>
            <a:r>
              <a:rPr lang="en-IN" sz="2400" dirty="0"/>
              <a:t>Validates input using HTML and JavaScript.</a:t>
            </a:r>
          </a:p>
          <a:p>
            <a:pPr marL="0" indent="0">
              <a:buNone/>
            </a:pPr>
            <a:r>
              <a:rPr lang="en-IN" sz="2400" b="1" dirty="0"/>
              <a:t>2. Resource Allocation</a:t>
            </a:r>
            <a:endParaRPr lang="en-IN" sz="2400" dirty="0"/>
          </a:p>
          <a:p>
            <a:pPr lvl="0"/>
            <a:r>
              <a:rPr lang="en-IN" sz="2400" dirty="0"/>
              <a:t>Applies knowledge-based rules to select a suitable resource.</a:t>
            </a:r>
          </a:p>
          <a:p>
            <a:pPr lvl="0"/>
            <a:r>
              <a:rPr lang="en-IN" sz="2400" dirty="0"/>
              <a:t>Sends the selected resource to the routing module.</a:t>
            </a:r>
          </a:p>
          <a:p>
            <a:pPr marL="0" indent="0">
              <a:buNone/>
            </a:pPr>
            <a:r>
              <a:rPr lang="en-IN" sz="2400" b="1" dirty="0"/>
              <a:t>3. A(star)Routing</a:t>
            </a:r>
          </a:p>
          <a:p>
            <a:pPr lvl="0"/>
            <a:r>
              <a:rPr lang="en-IN" sz="2400" dirty="0"/>
              <a:t>Calculates a route using the road network.</a:t>
            </a:r>
          </a:p>
          <a:p>
            <a:pPr lvl="0"/>
            <a:r>
              <a:rPr lang="en-IN" sz="2400" dirty="0"/>
              <a:t>Uses </a:t>
            </a:r>
            <a:r>
              <a:rPr lang="en-IN" sz="2400" dirty="0" err="1"/>
              <a:t>NetworkX</a:t>
            </a:r>
            <a:r>
              <a:rPr lang="en-IN" sz="2400" dirty="0"/>
              <a:t> and </a:t>
            </a:r>
            <a:r>
              <a:rPr lang="en-IN" sz="2400" dirty="0" err="1"/>
              <a:t>OSMnx</a:t>
            </a:r>
            <a:r>
              <a:rPr lang="en-IN" sz="2400" dirty="0"/>
              <a:t> for pathfinding.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75299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b="1" dirty="0">
                <a:solidFill>
                  <a:srgbClr val="FF0000"/>
                </a:solidFill>
              </a:rPr>
              <a:t>Module Description(For each Module separately)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800" b="1" dirty="0"/>
              <a:t>4. Map Visualization</a:t>
            </a:r>
            <a:endParaRPr lang="en-IN" sz="2800" dirty="0"/>
          </a:p>
          <a:p>
            <a:pPr lvl="0"/>
            <a:r>
              <a:rPr lang="en-IN" sz="2800" dirty="0"/>
              <a:t>Displays emergency locations and routes.</a:t>
            </a:r>
          </a:p>
          <a:p>
            <a:pPr lvl="0"/>
            <a:r>
              <a:rPr lang="en-IN" sz="2800" dirty="0"/>
              <a:t>Uses Leaflet and OpenStreetMap.</a:t>
            </a:r>
          </a:p>
          <a:p>
            <a:pPr marL="0" indent="0">
              <a:buNone/>
            </a:pPr>
            <a:r>
              <a:rPr lang="en-IN" sz="2800" b="1" dirty="0"/>
              <a:t>5. Backend &amp; API Integration</a:t>
            </a:r>
            <a:endParaRPr lang="en-IN" sz="2800" dirty="0"/>
          </a:p>
          <a:p>
            <a:pPr lvl="0"/>
            <a:r>
              <a:rPr lang="en-IN" sz="2800" dirty="0"/>
              <a:t>Flask connects the frontend and AI modules.</a:t>
            </a:r>
          </a:p>
          <a:p>
            <a:pPr lvl="0"/>
            <a:r>
              <a:rPr lang="en-IN" sz="2800" dirty="0"/>
              <a:t>SQLite stores allocation logs; security controls manage access.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None/>
              <a:tabLst/>
              <a:defRPr/>
            </a:pPr>
            <a:br>
              <a:rPr kumimoji="0" lang="en-I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</a:br>
            <a:endParaRPr kumimoji="0" lang="en-I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13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DB319F-F932-053E-84EB-9DA3A01715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1664" y="4761074"/>
            <a:ext cx="5544616" cy="1263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1953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b="1" dirty="0">
                <a:solidFill>
                  <a:srgbClr val="FF0000"/>
                </a:solidFill>
              </a:rPr>
              <a:t>Results &amp; Discussion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IN" sz="2800" b="1" dirty="0"/>
              <a:t>Resource Allocation:</a:t>
            </a:r>
            <a:r>
              <a:rPr lang="en-IN" sz="2800" dirty="0"/>
              <a:t> Selects a suitable resource based on emergency details.</a:t>
            </a:r>
          </a:p>
          <a:p>
            <a:pPr marL="0" lvl="0" indent="0">
              <a:buNone/>
            </a:pPr>
            <a:r>
              <a:rPr lang="en-IN" sz="2800" b="1" dirty="0"/>
              <a:t>Route Finding:</a:t>
            </a:r>
            <a:r>
              <a:rPr lang="en-IN" sz="2800" dirty="0"/>
              <a:t> A* calculates a route using road-network data.</a:t>
            </a:r>
          </a:p>
          <a:p>
            <a:pPr marL="0" lvl="0" indent="0">
              <a:buNone/>
            </a:pPr>
            <a:r>
              <a:rPr lang="en-IN" sz="2800" b="1" dirty="0"/>
              <a:t>Map Visualization:</a:t>
            </a:r>
            <a:r>
              <a:rPr lang="en-IN" sz="2800" dirty="0"/>
              <a:t> Displays the emergency location and route.</a:t>
            </a:r>
          </a:p>
          <a:p>
            <a:pPr marL="0" lvl="0" indent="0">
              <a:buNone/>
            </a:pPr>
            <a:r>
              <a:rPr lang="en-IN" sz="2800" b="1" dirty="0"/>
              <a:t>System Integration:</a:t>
            </a:r>
            <a:r>
              <a:rPr lang="en-IN" sz="2800" dirty="0"/>
              <a:t> Flask connects the core modules.</a:t>
            </a:r>
          </a:p>
          <a:p>
            <a:pPr marL="0" lvl="0" indent="0">
              <a:buNone/>
            </a:pPr>
            <a:r>
              <a:rPr lang="en-IN" sz="2800" b="1" dirty="0"/>
              <a:t>Discussion:</a:t>
            </a:r>
            <a:r>
              <a:rPr lang="en-IN" sz="2800" dirty="0"/>
              <a:t> The prototype demonstrates classical AI techniques for emergency resource allocation and route planning.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None/>
              <a:tabLst/>
              <a:defRPr/>
            </a:pPr>
            <a:br>
              <a:rPr kumimoji="0" lang="en-I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</a:br>
            <a:endParaRPr kumimoji="0" lang="en-I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96383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664CE-7311-4C5B-AA2E-45ABB90DD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FF0000"/>
                </a:solidFill>
              </a:rPr>
              <a:t>User Interface/ Screenshots</a:t>
            </a:r>
            <a:endParaRPr lang="en-IN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FBE2C3-AC88-4E92-99FF-8D9C75D34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Second Review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4BBD9-F4E8-4A60-9A83-C40083E30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06318D-05CC-4803-9541-7064C44F7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C2143B-610F-499C-A392-DFFBE135A7B2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81E0DC93-33FA-5A25-32F2-EE32618DA9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7448" y="1772816"/>
            <a:ext cx="4007768" cy="2253716"/>
          </a:xfr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6A1E242-99EC-5217-B5AF-3E8212629B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2024" y="1685303"/>
            <a:ext cx="4319012" cy="242874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515C1F6-F85D-B002-0DB9-3F465A8B2D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9456" y="4299483"/>
            <a:ext cx="4007768" cy="2253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2650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sz="3200" b="1" dirty="0">
                <a:solidFill>
                  <a:srgbClr val="FF0000"/>
                </a:solidFill>
              </a:rPr>
              <a:t>Conclusion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sz="2400" dirty="0"/>
              <a:t>Developed an AI-based emergency resource allocation prototype.</a:t>
            </a:r>
          </a:p>
          <a:p>
            <a:pPr lvl="0"/>
            <a:r>
              <a:rPr lang="en-IN" sz="2400" dirty="0"/>
              <a:t>Uses knowledge-based rules to select suitable resources.</a:t>
            </a:r>
          </a:p>
          <a:p>
            <a:pPr lvl="0"/>
            <a:r>
              <a:rPr lang="en-IN" sz="2400" dirty="0"/>
              <a:t>Applies the A* algorithm for route finding.</a:t>
            </a:r>
          </a:p>
          <a:p>
            <a:pPr lvl="0"/>
            <a:r>
              <a:rPr lang="en-IN" sz="2400" dirty="0"/>
              <a:t>Integrates Flask backend and interactive map visualization.</a:t>
            </a:r>
          </a:p>
          <a:p>
            <a:pPr lvl="0"/>
            <a:r>
              <a:rPr lang="en-IN" sz="2400" dirty="0"/>
              <a:t>Demonstrates the practical application of classical AI techniques.</a:t>
            </a:r>
          </a:p>
          <a:p>
            <a:pPr lvl="0"/>
            <a:r>
              <a:rPr lang="en-IN" sz="2400" dirty="0"/>
              <a:t>Future work includes real-time resource tracking and live traffic integration.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None/>
              <a:tabLst/>
              <a:defRPr/>
            </a:pPr>
            <a:br>
              <a:rPr kumimoji="0" lang="en-I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</a:br>
            <a:endParaRPr kumimoji="0" lang="en-I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1662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Future Work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800" b="1" dirty="0"/>
              <a:t>Automatic Emergency Alerts:</a:t>
            </a:r>
            <a:r>
              <a:rPr lang="en-IN" sz="2800" dirty="0"/>
              <a:t> Receive emergency alerts automatically instead of manual input.</a:t>
            </a:r>
          </a:p>
          <a:p>
            <a:pPr lvl="0"/>
            <a:r>
              <a:rPr lang="en-IN" sz="2800" b="1" dirty="0"/>
              <a:t>Real-Time Integration:</a:t>
            </a:r>
            <a:r>
              <a:rPr lang="en-IN" sz="2800" dirty="0"/>
              <a:t> Connect with emergency reporting systems to obtain incident details.</a:t>
            </a:r>
          </a:p>
          <a:p>
            <a:pPr lvl="0"/>
            <a:r>
              <a:rPr lang="en-IN" sz="2800" b="1" dirty="0"/>
              <a:t>Instant Resource Allocation:</a:t>
            </a:r>
            <a:r>
              <a:rPr lang="en-IN" sz="2800" dirty="0"/>
              <a:t> Automatically select suitable resources and calculate routes.</a:t>
            </a:r>
          </a:p>
          <a:p>
            <a:pPr lvl="0"/>
            <a:r>
              <a:rPr lang="en-IN" sz="2800" b="1" dirty="0"/>
              <a:t>Notifications:</a:t>
            </a:r>
            <a:r>
              <a:rPr lang="en-IN" sz="2800" dirty="0"/>
              <a:t> Alert relevant emergency personnel about new incidents.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None/>
              <a:tabLst/>
              <a:defRPr/>
            </a:pPr>
            <a:br>
              <a:rPr kumimoji="0" lang="en-I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</a:br>
            <a:endParaRPr kumimoji="0" lang="en-I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01620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References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dirty="0"/>
              <a:t>[1] A. Nordin et al., “Finding Shortest Path of the Ambulance Routing: Interface of A* Algorithm Using C# Programming,” 2012.</a:t>
            </a:r>
          </a:p>
          <a:p>
            <a:r>
              <a:rPr lang="en-IN" sz="2400" dirty="0"/>
              <a:t>[2] J. </a:t>
            </a:r>
            <a:r>
              <a:rPr lang="en-IN" sz="2400" dirty="0" err="1"/>
              <a:t>Barrachina</a:t>
            </a:r>
            <a:r>
              <a:rPr lang="en-IN" sz="2400" dirty="0"/>
              <a:t> et al., “Reducing Emergency Services Arrival Time by Using Vehicular Communications and Evolution Strategies,” </a:t>
            </a:r>
            <a:r>
              <a:rPr lang="en-IN" sz="2400" i="1" dirty="0"/>
              <a:t>Expert Systems with Applications</a:t>
            </a:r>
            <a:r>
              <a:rPr lang="en-IN" sz="2400" dirty="0"/>
              <a:t>, vol. 41, no. 4, pp. 1206–1217, 2014.</a:t>
            </a:r>
          </a:p>
          <a:p>
            <a:r>
              <a:rPr lang="en-IN" sz="2400" dirty="0"/>
              <a:t>[3] G. Pettet et al., “Designing Decision Support Systems for Emergency Response: Challenges and Opportunities,” 2022.</a:t>
            </a:r>
          </a:p>
          <a:p>
            <a:r>
              <a:rPr lang="en-IN" sz="2400" dirty="0"/>
              <a:t>[4] </a:t>
            </a:r>
            <a:r>
              <a:rPr lang="en-IN" sz="2400" dirty="0" err="1"/>
              <a:t>NetworkX</a:t>
            </a:r>
            <a:r>
              <a:rPr lang="en-IN" sz="2400" dirty="0"/>
              <a:t>, “A* Shortest Path Algorithm Documentation.” </a:t>
            </a:r>
            <a:r>
              <a:rPr lang="en-IN" sz="2400" dirty="0">
                <a:hlinkClick r:id="rId2"/>
              </a:rPr>
              <a:t>https://networkx.org/documentation/stable/</a:t>
            </a:r>
            <a:endParaRPr lang="en-IN" sz="2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None/>
              <a:tabLst/>
              <a:defRPr/>
            </a:pPr>
            <a:br>
              <a:rPr kumimoji="0" lang="en-I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</a:br>
            <a:endParaRPr kumimoji="0" lang="en-I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64227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254C9-0B8F-0976-A52C-F63941C06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b="1" dirty="0">
                <a:solidFill>
                  <a:srgbClr val="FF0000"/>
                </a:solidFill>
              </a:rPr>
              <a:t>References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3684D0-AC6C-D284-4EE6-D3DBE1E96A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dirty="0"/>
              <a:t>[5] G. Boeing, “</a:t>
            </a:r>
            <a:r>
              <a:rPr lang="en-IN" sz="2400" dirty="0" err="1"/>
              <a:t>Modeling</a:t>
            </a:r>
            <a:r>
              <a:rPr lang="en-IN" sz="2400" dirty="0"/>
              <a:t> and </a:t>
            </a:r>
            <a:r>
              <a:rPr lang="en-IN" sz="2400" dirty="0" err="1"/>
              <a:t>Analyzing</a:t>
            </a:r>
            <a:r>
              <a:rPr lang="en-IN" sz="2400" dirty="0"/>
              <a:t> Urban Networks and Amenities with </a:t>
            </a:r>
            <a:r>
              <a:rPr lang="en-IN" sz="2400" dirty="0" err="1"/>
              <a:t>OSMnx</a:t>
            </a:r>
            <a:r>
              <a:rPr lang="en-IN" sz="2400" dirty="0"/>
              <a:t>,” </a:t>
            </a:r>
            <a:r>
              <a:rPr lang="en-IN" sz="2400" i="1" dirty="0"/>
              <a:t>Geographical Analysis</a:t>
            </a:r>
            <a:r>
              <a:rPr lang="en-IN" sz="2400" dirty="0"/>
              <a:t>, 2025.</a:t>
            </a:r>
          </a:p>
          <a:p>
            <a:r>
              <a:rPr lang="en-IN" sz="2400" dirty="0"/>
              <a:t>[6] OpenStreetMap, “Map Data and Copyright.” </a:t>
            </a:r>
            <a:r>
              <a:rPr lang="en-IN" sz="2400" dirty="0">
                <a:hlinkClick r:id="rId2"/>
              </a:rPr>
              <a:t>https://www.openstreetmap.org/copyright</a:t>
            </a:r>
            <a:endParaRPr lang="en-IN" sz="2400" dirty="0"/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10AAE-8E46-7B2C-345D-25E4127B2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2963E6-2D59-EE75-5195-3099A1B53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360C5-D25A-12F6-D686-2E9E494BD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C2143B-610F-499C-A392-DFFBE135A7B2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32615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C349C-5BE6-7AA1-4EE3-C4AA5A3BB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3168074"/>
            <a:ext cx="10668000" cy="1216025"/>
          </a:xfrm>
        </p:spPr>
        <p:txBody>
          <a:bodyPr anchor="ctr"/>
          <a:lstStyle/>
          <a:p>
            <a:pPr algn="ctr"/>
            <a:r>
              <a:rPr lang="en-IN" altLang="en-US" sz="4000" b="1" dirty="0">
                <a:solidFill>
                  <a:srgbClr val="FF0000"/>
                </a:solidFill>
              </a:rPr>
              <a:t>Thank You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44F5F3-B604-7034-3991-F0917DEC1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83B680-F650-469F-A231-392F163461F6}" type="slidenum">
              <a:rPr lang="en-US" altLang="en-US" smtClean="0"/>
              <a:pPr>
                <a:defRPr/>
              </a:pPr>
              <a:t>20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73965067"/>
      </p:ext>
    </p:extLst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2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3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4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5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6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7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1222</Words>
  <Application>Microsoft Office PowerPoint</Application>
  <PresentationFormat>Widescreen</PresentationFormat>
  <Paragraphs>168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Calibri</vt:lpstr>
      <vt:lpstr>Times New Roman</vt:lpstr>
      <vt:lpstr>Verdana</vt:lpstr>
      <vt:lpstr>Wingdings</vt:lpstr>
      <vt:lpstr>Profile</vt:lpstr>
      <vt:lpstr>PowerPoint Presentation</vt:lpstr>
      <vt:lpstr>Problem Statement and Motivation</vt:lpstr>
      <vt:lpstr>Objectives</vt:lpstr>
      <vt:lpstr>Abstract</vt:lpstr>
      <vt:lpstr>Literature Survey</vt:lpstr>
      <vt:lpstr>Research Gap/Existing System</vt:lpstr>
      <vt:lpstr>Proposed System </vt:lpstr>
      <vt:lpstr>DFD Diagram</vt:lpstr>
      <vt:lpstr>Methodology/Work Flow Diagram</vt:lpstr>
      <vt:lpstr>Tools and Technologies</vt:lpstr>
      <vt:lpstr>List of Modules</vt:lpstr>
      <vt:lpstr>Module Description(For each Module separately)</vt:lpstr>
      <vt:lpstr>Module Description(For each Module separately)</vt:lpstr>
      <vt:lpstr>Results &amp; Discussion</vt:lpstr>
      <vt:lpstr>User Interface/ Screenshots</vt:lpstr>
      <vt:lpstr>Conclusion</vt:lpstr>
      <vt:lpstr>Future Work</vt:lpstr>
      <vt:lpstr>References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deva dharashani</cp:lastModifiedBy>
  <cp:revision>16</cp:revision>
  <dcterms:modified xsi:type="dcterms:W3CDTF">2026-10-14T16:54:23Z</dcterms:modified>
</cp:coreProperties>
</file>